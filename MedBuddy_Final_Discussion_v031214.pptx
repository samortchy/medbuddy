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MedBuddy is an AI-powered companion that helps elderly patients manage medications, daily wellness, and emergencies, while giving caregivers remote visibility. Built with Flutter, FastAPI, Supabase and several AI services. Team04 — all members contributed across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real-world need. Two user types: the patient (senior) and the caregiver (family member). MedBuddy bridges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lives in the Supabase JWT user_metadata and drives the entire UI. A patient and caregiver are connected through a link created by an invite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decision: the Flutter app never touches the DB directly. It authenticates with Supabase, gets a JWT, sends it as a Bearer token to FastAPI, which validates it and uses the service-role key for all DB access. Centralizes logic and security on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'technologies' rubric item. Justify each: Riverpod for testable reactive state, Dio for interceptors, Supabase for auth+managed Postgres, OpenRouter to access Llama cheaply, Agora for low-latency video, FCM for reliable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Patient journey: onboard → daily reminders &amp; check-ins → talk to the AI buddy → log symptoms → SOS in trouble. Emphasize senior-friendly UI: big text, high contrast, simple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caregiver side turns scattered data into peace of mind. All access is gated: a caregiver only sees patients they are explicitly linked to, verified on every backend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our differentiator. Q&amp;A point: the LLM does NOT get patient data from the client — FastAPI fetches it from the DB and builds the prompt. Model: Llama 3.3 70B via OpenRouter. STT/TTS run locally on GPU. Triage mixes a deterministic keyword check with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Highest-stakes feature. SOS is reachable from EVERY patient screen via a persistent overlay button. Combines FCM (alerting) and Agora RTC (live video) with a worker-based escalation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the state-management and navigation rubric. Riverpod = compile-safe, testable, reactive state. Dio interceptor centralizes auth. Explain provider invalidation after an edit screen pops.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 to rubric items: device features (camera, mic, push, video) and data persistence (sqflite). Profile images stored locally with full CRUD; the server DB stays the source of truth for health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interactivity and responsiveness/UX. Dismissible + Undo is the concrete interactivity example. Theming + text scaling + orientation lock = responsive, consistent UX for elderly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and specific about challenges — examiners respect this. Each learning ties back to a rubric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panel, restate the one-line value proposition, and open the floor for the technical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322E"/>
            </a:gs>
            <a:gs pos="100000">
              <a:srgbClr val="0A5C5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645920"/>
            <a:ext cx="5943600" cy="5943600"/>
          </a:xfrm>
          <a:prstGeom prst="ellipse">
            <a:avLst/>
          </a:prstGeom>
          <a:solidFill>
            <a:srgbClr val="0D9488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2743200"/>
            <a:ext cx="4572000" cy="4572000"/>
          </a:xfrm>
          <a:prstGeom prst="ellipse">
            <a:avLst/>
          </a:prstGeom>
          <a:solidFill>
            <a:srgbClr val="5EEAD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5EEAD4"/>
                </a:solidFill>
                <a:latin typeface="Segoe UI"/>
              </a:rPr>
              <a:t>MOBILE PROGRAMMING   ·   FINAL DISCUSSION   ·   SPRING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 i="0">
                <a:solidFill>
                  <a:srgbClr val="FFFFFF"/>
                </a:solidFill>
                <a:latin typeface="Segoe UI"/>
              </a:rPr>
              <a:t>MedBuddy</a:t>
            </a:r>
          </a:p>
          <a:p>
            <a:r>
              <a:rPr sz="2600" b="0" i="0">
                <a:solidFill>
                  <a:srgbClr val="CCFBF1"/>
                </a:solidFill>
                <a:latin typeface="Segoe UI Light"/>
              </a:rPr>
              <a:t>AI-Powered Elderly Health Companion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4617720"/>
            <a:ext cx="2011680" cy="50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4892040"/>
            <a:ext cx="7223760" cy="150876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029200"/>
            <a:ext cx="67665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F59E0B"/>
                </a:solidFill>
                <a:latin typeface="Segoe UI"/>
              </a:rPr>
              <a:t>Team04</a:t>
            </a:r>
          </a:p>
          <a:p>
            <a:r>
              <a:rPr sz="1250" b="0" i="0">
                <a:solidFill>
                  <a:srgbClr val="FFFFFF"/>
                </a:solidFill>
                <a:latin typeface="Segoe UI"/>
              </a:rPr>
              <a:t>Ahmed Samer  ·  Ali Abdallah  ·  Ismail Hesham  ·  Abu Bakr Hegazy  ·  Mena Khaled</a:t>
            </a:r>
          </a:p>
          <a:p>
            <a:r>
              <a:rPr sz="1050" b="0" i="0">
                <a:solidFill>
                  <a:srgbClr val="CCFBF1"/>
                </a:solidFill>
                <a:latin typeface="Segoe UI"/>
              </a:rPr>
              <a:t>2022/08211 · 2022/05974 · 2022/00106 · 2022/02645 · 2022/03469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MOTIVATION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13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Elderly patients often forget medications or take the wrong dose.</a:t>
            </a:r>
          </a:p>
          <a:p>
            <a:pPr>
              <a:spcAft>
                <a:spcPts val="1500"/>
              </a:spcAft>
            </a:pPr>
            <a:r>
              <a:rPr sz="13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Subtle declines in mood, sleep, energy and pain go unnoticed until serious.</a:t>
            </a:r>
          </a:p>
          <a:p>
            <a:pPr>
              <a:spcAft>
                <a:spcPts val="1500"/>
              </a:spcAft>
            </a:pPr>
            <a:r>
              <a:rPr sz="13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In a fall or emergency, every minute matters — but help is often far away.</a:t>
            </a:r>
          </a:p>
          <a:p>
            <a:pPr>
              <a:spcAft>
                <a:spcPts val="1500"/>
              </a:spcAft>
            </a:pPr>
            <a:r>
              <a:rPr sz="13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Family caregivers want reassurance but cannot watch over a parent 24/7.</a:t>
            </a:r>
          </a:p>
          <a:p>
            <a:pPr>
              <a:spcAft>
                <a:spcPts val="1500"/>
              </a:spcAft>
            </a:pPr>
            <a:r>
              <a:rPr sz="13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Most health apps are built for tech-savvy users, not seniors.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74920"/>
            <a:ext cx="10332720" cy="960120"/>
          </a:xfrm>
          <a:prstGeom prst="roundRect">
            <a:avLst>
              <a:gd name="adj" fmla="val 14000"/>
            </a:avLst>
          </a:prstGeom>
          <a:solidFill>
            <a:srgbClr val="0D9488"/>
          </a:solidFill>
          <a:ln>
            <a:noFill/>
          </a:ln>
          <a:effectLst>
            <a:outerShdw blurRad="177800" dist="63500" dir="5400000" rotWithShape="0">
              <a:srgbClr val="06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120640"/>
            <a:ext cx="9692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1" i="1">
                <a:solidFill>
                  <a:srgbClr val="FFFFFF"/>
                </a:solidFill>
                <a:latin typeface="Segoe UI"/>
              </a:rPr>
              <a:t>Our goal:  one simple app that keeps seniors safe and healthy — and keeps their caregivers connected and informed.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SOLUTION OVERVIEW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Two Roles, One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166360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63A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66360" cy="777240"/>
          </a:xfrm>
          <a:prstGeom prst="roundRect">
            <a:avLst>
              <a:gd name="adj" fmla="val 7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5166360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 i="0">
                <a:solidFill>
                  <a:srgbClr val="FFFFFF"/>
                </a:solidFill>
                <a:latin typeface="Segoe UI"/>
              </a:rPr>
              <a:t>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448056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Medication schedule &amp; reminders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Daily wellness check-ins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AI health buddy (chat + voice)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Symptom logging with AI triage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One-tap SOS on every screen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Personal health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166360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63A35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5166360" cy="777240"/>
          </a:xfrm>
          <a:prstGeom prst="roundRect">
            <a:avLst>
              <a:gd name="adj" fmla="val 7000"/>
            </a:avLst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5166360" cy="365760"/>
          </a:xfrm>
          <a:prstGeom prst="rect">
            <a:avLst/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19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100" b="1" i="0">
                <a:solidFill>
                  <a:srgbClr val="FFFFFF"/>
                </a:solidFill>
                <a:latin typeface="Segoe UI"/>
              </a:rPr>
              <a:t>Caregiver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88920"/>
            <a:ext cx="448056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0A5C56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Link to a patient via secure code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A5C56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Read-only health dashboards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A5C56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Wellness, meds, symptoms, emergencies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A5C56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Two-way secure messaging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A5C56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Instant emergency push alerts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0A5C56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Auto-join emergency video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HOW IT FITS TOGETHER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2971800" cy="141732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D9488"/>
              </a:gs>
              <a:gs pos="100000">
                <a:srgbClr val="5EEAD4"/>
              </a:gs>
            </a:gsLst>
            <a:lin scaled="0" ang="18000000"/>
          </a:gradFill>
          <a:ln>
            <a:noFill/>
          </a:ln>
          <a:effectLst>
            <a:outerShdw blurRad="177800" dist="63500" dir="5400000" rotWithShape="0">
              <a:srgbClr val="06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Flutter App</a:t>
            </a:r>
          </a:p>
          <a:p>
            <a:pPr algn="ctr"/>
            <a:r>
              <a:rPr sz="1050" b="0" i="0">
                <a:solidFill>
                  <a:srgbClr val="E6FFFA"/>
                </a:solidFill>
                <a:latin typeface="Segoe UI"/>
              </a:rPr>
              <a:t>Patient + Caregiver UI
Riverpod · 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331720"/>
            <a:ext cx="2971800" cy="141732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A5C56"/>
              </a:gs>
              <a:gs pos="100000">
                <a:srgbClr val="0D9488"/>
              </a:gs>
            </a:gsLst>
            <a:lin scaled="0" ang="18000000"/>
          </a:gradFill>
          <a:ln>
            <a:noFill/>
          </a:ln>
          <a:effectLst>
            <a:outerShdw blurRad="177800" dist="63500" dir="5400000" rotWithShape="0">
              <a:srgbClr val="06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FastAPI Backend</a:t>
            </a:r>
          </a:p>
          <a:p>
            <a:pPr algn="ctr"/>
            <a:r>
              <a:rPr sz="1050" b="0" i="0">
                <a:solidFill>
                  <a:srgbClr val="E6FFFA"/>
                </a:solidFill>
                <a:latin typeface="Segoe UI"/>
              </a:rPr>
              <a:t>REST API · workers
service-role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331720"/>
            <a:ext cx="2971800" cy="141732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F9E44"/>
              </a:gs>
              <a:gs pos="100000">
                <a:srgbClr val="69C97B"/>
              </a:gs>
            </a:gsLst>
            <a:lin scaled="0" ang="18000000"/>
          </a:gradFill>
          <a:ln>
            <a:noFill/>
          </a:ln>
          <a:effectLst>
            <a:outerShdw blurRad="177800" dist="63500" dir="5400000" rotWithShape="0">
              <a:srgbClr val="06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Supabase</a:t>
            </a:r>
          </a:p>
          <a:p>
            <a:pPr algn="ctr"/>
            <a:r>
              <a:rPr sz="1050" b="0" i="0">
                <a:solidFill>
                  <a:srgbClr val="E6FFFA"/>
                </a:solidFill>
                <a:latin typeface="Segoe UI"/>
              </a:rPr>
              <a:t>Postgres + Auth (JWT)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657600" y="2788920"/>
            <a:ext cx="1005840" cy="274320"/>
          </a:xfrm>
          <a:prstGeom prst="left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-Right Arrow 11"/>
          <p:cNvSpPr/>
          <p:nvPr/>
        </p:nvSpPr>
        <p:spPr>
          <a:xfrm>
            <a:off x="7589520" y="2788920"/>
            <a:ext cx="1005840" cy="274320"/>
          </a:xfrm>
          <a:prstGeom prst="left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4343400"/>
            <a:ext cx="2971800" cy="13258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F59E0B"/>
              </a:gs>
              <a:gs pos="100000">
                <a:srgbClr val="FBBF24"/>
              </a:gs>
            </a:gsLst>
            <a:lin scaled="0" ang="18000000"/>
          </a:gradFill>
          <a:ln>
            <a:noFill/>
          </a:ln>
          <a:effectLst>
            <a:outerShdw blurRad="177800" dist="63500" dir="5400000" rotWithShape="0">
              <a:srgbClr val="063A3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F172A"/>
                </a:solidFill>
                <a:latin typeface="Segoe UI"/>
              </a:rPr>
              <a:t>AI Services</a:t>
            </a:r>
          </a:p>
          <a:p>
            <a:pPr algn="ctr"/>
            <a:r>
              <a:rPr sz="1050" b="0" i="0">
                <a:solidFill>
                  <a:srgbClr val="0F172A"/>
                </a:solidFill>
                <a:latin typeface="Segoe UI"/>
              </a:rPr>
              <a:t>LLM · STT · TTS
Agora · FCM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749039"/>
            <a:ext cx="3810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0" i="1">
                <a:solidFill>
                  <a:srgbClr val="5B6670"/>
                </a:solidFill>
                <a:latin typeface="Segoe UI"/>
              </a:rPr>
              <a:t>Auth-only Supabase:  Flutter authenticates with Supabase; ALL data flows through FastAPI, which holds the service-role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WHAT WE BUILT WITH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743200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743200" cy="640080"/>
          </a:xfrm>
          <a:prstGeom prst="roundRect">
            <a:avLst>
              <a:gd name="adj" fmla="val 7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06040"/>
            <a:ext cx="2377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Flutter 3.x / Dart 3.11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Riverpod 2.5 (state)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Dio 5.4 (HTTP)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sqflite (local cache)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image_picker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permission_handler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28800"/>
            <a:ext cx="2743200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1828800"/>
            <a:ext cx="2743200" cy="640080"/>
          </a:xfrm>
          <a:prstGeom prst="roundRect">
            <a:avLst>
              <a:gd name="adj" fmla="val 7000"/>
            </a:avLst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2194560"/>
            <a:ext cx="2743200" cy="274320"/>
          </a:xfrm>
          <a:prstGeom prst="rect">
            <a:avLst/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874519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06040"/>
            <a:ext cx="2377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A5C56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FastAPI (Python)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A5C56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supabase-py (service role)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A5C56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Background workers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A5C56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slowapi (rate limit)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A5C56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Pydantic models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A5C56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REST +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1828800"/>
            <a:ext cx="2743200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1828800"/>
            <a:ext cx="2743200" cy="640080"/>
          </a:xfrm>
          <a:prstGeom prst="roundRect">
            <a:avLst>
              <a:gd name="adj" fmla="val 7000"/>
            </a:avLst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2194560"/>
            <a:ext cx="2743200" cy="274320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874519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Data &amp;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606040"/>
            <a:ext cx="2377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Supabase Postgres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Supabase Auth (JWT)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Role in user_metadata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Row-based ownership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Soft-delete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2F9E44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Unique indexes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1828800"/>
            <a:ext cx="2743200" cy="4343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778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6296" y="1828800"/>
            <a:ext cx="2743200" cy="64008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2194560"/>
            <a:ext cx="27432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1874519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AI &amp; Realtime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2606040"/>
            <a:ext cx="23774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OpenRouter · Llama 3.3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faster-whisper (STT)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Chatterbox (TTS)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Agora RTC (video)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Firebase FCM (push)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• 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On-GPU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CORE FUNCTIONALITY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Patient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2024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Guided onboarding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Profile, conditions, meds, contacts &amp; prefs.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2024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Medication schedule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Reminders, mark-as-taken, adherence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01752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Wellness check-in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Mood, energy, sleep, pain — trend charts.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2608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1752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AI health buddy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Context-aware chat + voice (STT / TTS).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2336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02336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11480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Symptom log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Free-text symptoms with AI severity triage.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02336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11480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History hub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Wellness, symptoms, meds, emergencies.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2064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12064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521208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SOS button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One tap on every screen → emergency 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12064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512064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21208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Profile photo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Camera/gallery upload, cached locally.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REMOTE CARE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Caregiver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2024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Secure linking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6-digit invite code links caregiver ↔ patient.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2024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Patient dashboards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Read-only views of all patient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292608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01752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Wellness &amp; symptoms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Check-in trends and AI-flagged symptoms.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2608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A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1752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Medication view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Patient's active meds and adherence.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2336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02336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11480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Emergency log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History of SOS / fall events &amp; outcomes.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02336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11480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Secure messaging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Two-way chat thread with the patient.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2064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512064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521208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Push alerts (FCM)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Instant notice when an emergency fires.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120640"/>
            <a:ext cx="5257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5120640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212080"/>
            <a:ext cx="4800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Segoe UI"/>
              </a:rPr>
              <a:t>Auto-join call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B6670"/>
                </a:solidFill>
                <a:latin typeface="Segoe UI"/>
              </a:rPr>
              <a:t>Ringtone + auto-join the emergency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THE SMART LAYER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AI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0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550" b="0" i="0">
                <a:solidFill>
                  <a:srgbClr val="0F172A"/>
                </a:solidFill>
                <a:latin typeface="Segoe UI"/>
              </a:rPr>
              <a:t>Context-aware chat — the backend injects the patient's name, age, language, conditions and medications into the system prompt, so the AI answers personally.</a:t>
            </a:r>
          </a:p>
          <a:p>
            <a:pPr lvl="1">
              <a:spcAft>
                <a:spcPts val="1000"/>
              </a:spcAft>
            </a:pPr>
            <a:r>
              <a:rPr sz="950" b="1" i="0">
                <a:solidFill>
                  <a:srgbClr val="FB7185"/>
                </a:solidFill>
                <a:latin typeface="Segoe UI"/>
              </a:rPr>
              <a:t>–  </a:t>
            </a:r>
            <a:r>
              <a:rPr sz="1350" b="0" i="0">
                <a:solidFill>
                  <a:srgbClr val="5B6670"/>
                </a:solidFill>
                <a:latin typeface="Segoe UI"/>
              </a:rPr>
              <a:t>Server-side prompt building keeps patient data secure and the client thin.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550" b="0" i="0">
                <a:solidFill>
                  <a:srgbClr val="0F172A"/>
                </a:solidFill>
                <a:latin typeface="Segoe UI"/>
              </a:rPr>
              <a:t>Voice — faster-whisper turns speech into text; Chatterbox turns the reply into natural speech for hands-free use.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550" b="0" i="0">
                <a:solidFill>
                  <a:srgbClr val="0F172A"/>
                </a:solidFill>
                <a:latin typeface="Segoe UI"/>
              </a:rPr>
              <a:t>Symptom triage — each symptom is classified normal / watch / flagged; an emergency keyword list short-circuits to an instant flag.</a:t>
            </a:r>
          </a:p>
          <a:p>
            <a:pPr lvl="1">
              <a:spcAft>
                <a:spcPts val="1000"/>
              </a:spcAft>
            </a:pPr>
            <a:r>
              <a:rPr sz="950" b="1" i="0">
                <a:solidFill>
                  <a:srgbClr val="FB7185"/>
                </a:solidFill>
                <a:latin typeface="Segoe UI"/>
              </a:rPr>
              <a:t>–  </a:t>
            </a:r>
            <a:r>
              <a:rPr sz="1350" b="0" i="0">
                <a:solidFill>
                  <a:srgbClr val="5B6670"/>
                </a:solidFill>
                <a:latin typeface="Segoe UI"/>
              </a:rPr>
              <a:t>Flagged symptoms automatically notify linked caregivers.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550" b="0" i="0">
                <a:solidFill>
                  <a:srgbClr val="0F172A"/>
                </a:solidFill>
                <a:latin typeface="Segoe UI"/>
              </a:rPr>
              <a:t>Visit summaries — an LLM turns a doctor-visit transcript into structured notes (diagnosis, medications, follow-ups).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550" b="0" i="0">
                <a:solidFill>
                  <a:srgbClr val="0F172A"/>
                </a:solidFill>
                <a:latin typeface="Segoe UI"/>
              </a:rPr>
              <a:t>Responses stay short, warm, and in the patient's preferred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WHEN IT MATTERS MOST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Emergency &amp; SOS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568" y="2240280"/>
            <a:ext cx="31750" cy="338328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011680"/>
            <a:ext cx="603504" cy="603504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A5C56"/>
              </a:gs>
            </a:gsLst>
            <a:lin scaled="0" ang="18000000"/>
          </a:gradFill>
          <a:ln>
            <a:noFill/>
          </a:ln>
          <a:effectLst>
            <a:outerShdw blurRad="127000" dist="63500" dir="5400000" rotWithShape="0">
              <a:srgbClr val="063A3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956816"/>
            <a:ext cx="96012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63500" dir="5400000" rotWithShape="0">
              <a:srgbClr val="06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975104"/>
            <a:ext cx="9235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A5C56"/>
                </a:solidFill>
                <a:latin typeface="Segoe UI"/>
              </a:rPr>
              <a:t>Trigger  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Patient taps SOS (or a fall is detected) on any screen.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761488"/>
            <a:ext cx="603504" cy="603504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A5C56"/>
              </a:gs>
            </a:gsLst>
            <a:lin scaled="0" ang="18000000"/>
          </a:gradFill>
          <a:ln>
            <a:noFill/>
          </a:ln>
          <a:effectLst>
            <a:outerShdw blurRad="127000" dist="63500" dir="5400000" rotWithShape="0">
              <a:srgbClr val="063A3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2706624"/>
            <a:ext cx="96012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63500" dir="5400000" rotWithShape="0">
              <a:srgbClr val="06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24912"/>
            <a:ext cx="9235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A5C56"/>
                </a:solidFill>
                <a:latin typeface="Segoe UI"/>
              </a:rPr>
              <a:t>Verify  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A quick liveness check filters out false alarms.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11296"/>
            <a:ext cx="603504" cy="603504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A5C56"/>
              </a:gs>
            </a:gsLst>
            <a:lin scaled="0" ang="18000000"/>
          </a:gradFill>
          <a:ln>
            <a:noFill/>
          </a:ln>
          <a:effectLst>
            <a:outerShdw blurRad="127000" dist="63500" dir="5400000" rotWithShape="0">
              <a:srgbClr val="063A3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3456432"/>
            <a:ext cx="96012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63500" dir="5400000" rotWithShape="0">
              <a:srgbClr val="06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474720"/>
            <a:ext cx="9235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A5C56"/>
                </a:solidFill>
                <a:latin typeface="Segoe UI"/>
              </a:rPr>
              <a:t>Notify  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Backend pushes FCM alerts to all linked caregivers.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61104"/>
            <a:ext cx="603504" cy="603504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A5C56"/>
              </a:gs>
            </a:gsLst>
            <a:lin scaled="0" ang="18000000"/>
          </a:gradFill>
          <a:ln>
            <a:noFill/>
          </a:ln>
          <a:effectLst>
            <a:outerShdw blurRad="127000" dist="63500" dir="5400000" rotWithShape="0">
              <a:srgbClr val="063A3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4206240"/>
            <a:ext cx="96012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63500" dir="5400000" rotWithShape="0">
              <a:srgbClr val="06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224528"/>
            <a:ext cx="9235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A5C56"/>
                </a:solidFill>
                <a:latin typeface="Segoe UI"/>
              </a:rPr>
              <a:t>Connect  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Agora video call opens; caregiver phone rings &amp; auto-joins.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010912"/>
            <a:ext cx="603504" cy="603504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A5C56"/>
              </a:gs>
            </a:gsLst>
            <a:lin scaled="0" ang="18000000"/>
          </a:gradFill>
          <a:ln>
            <a:noFill/>
          </a:ln>
          <a:effectLst>
            <a:outerShdw blurRad="127000" dist="63500" dir="5400000" rotWithShape="0">
              <a:srgbClr val="063A3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956048"/>
            <a:ext cx="960120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63500" dir="5400000" rotWithShape="0">
              <a:srgbClr val="063A3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974336"/>
            <a:ext cx="9235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0A5C56"/>
                </a:solidFill>
                <a:latin typeface="Segoe UI"/>
              </a:rPr>
              <a:t>Escalate    </a:t>
            </a:r>
            <a:r>
              <a:rPr sz="1400" b="0" i="0">
                <a:solidFill>
                  <a:srgbClr val="0F172A"/>
                </a:solidFill>
                <a:latin typeface="Segoe UI"/>
              </a:rPr>
              <a:t>A background worker escalates if no caregiver responds.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ARCHITECTURE IN THE APP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State Management &amp;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Riverpod 2.5 — StateNotifierProvider for mutable flows (meds, symptoms, chat) and FutureProvider.family for async, per-patient reads.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Single Dio instance with an interceptor that injects the Bearer token on every request and signs out on 401.</a:t>
            </a:r>
          </a:p>
          <a:p>
            <a:pPr lvl="1">
              <a:spcAft>
                <a:spcPts val="1200"/>
              </a:spcAft>
            </a:pPr>
            <a:r>
              <a:rPr sz="1050" b="1" i="0">
                <a:solidFill>
                  <a:srgbClr val="FB7185"/>
                </a:solidFill>
                <a:latin typeface="Segoe UI"/>
              </a:rPr>
              <a:t>–  </a:t>
            </a:r>
            <a:r>
              <a:rPr sz="1450" b="0" i="0">
                <a:solidFill>
                  <a:srgbClr val="5B6670"/>
                </a:solidFill>
                <a:latin typeface="Segoe UI"/>
              </a:rPr>
              <a:t>Configurable base URL via --dart-define=API_BASE for emulator vs real device.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Named routes drive navigation; the user's role selects the patient vs caregiver shell and bottom-nav destinations.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Providers are invalidated after edits, so screens refresh with fresh server data.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Defensive patterns — display de-duplication, null-guards with loading/retry states instead of fake placeholder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NATIVE CAPABILITIES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Device Features &amp;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57800" cy="640080"/>
          </a:xfrm>
          <a:prstGeom prst="roundRect">
            <a:avLst>
              <a:gd name="adj" fmla="val 7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5257800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Segoe UI"/>
              </a:rPr>
              <a:t>Device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Camera &amp; Gallery — profile photo (image_picker)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Microphone &amp; Audio — STT / TTS / voice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Push notifications — Firebase FCM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Video &amp; audio call — Agora RTC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Runtime permissions — permission_handler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Ringtone on incoming emergency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57800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257800" cy="64008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94560"/>
            <a:ext cx="52578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Data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8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sqflite local database on device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profile_images table — full CRUD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Photos cached locally per user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Supabase Postgres = source of truth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Soft-delete + unique indexes server-side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Survives app restarts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SENIOR-FRIENDLY DESIGN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Interactivity &amp; UX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Swipe-to-delete with Undo — symptom entries use a Dismissible plus a floating Undo SnackBar to prevent accidental loss.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Consistent theming — one teal design system (colors, dimens, text styles) across every screen.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Accessibility — large tap targets, high contrast, clamped text scaling so layouts never break when the OS font is enlarged.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Portrait orientation lock for a predictable senior experience.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Responsive layouts — Wrap / Flexible widgets adapt to long content and screen sizes.</a:t>
            </a:r>
          </a:p>
          <a:p>
            <a:pPr>
              <a:spcAft>
                <a:spcPts val="1200"/>
              </a:spcAft>
            </a:pPr>
            <a:r>
              <a:rPr sz="11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650" b="0" i="0">
                <a:solidFill>
                  <a:srgbClr val="0F172A"/>
                </a:solidFill>
                <a:latin typeface="Segoe UI"/>
              </a:rPr>
              <a:t>Clear feedback — loading spinners, retry states, and success / error messages.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2FBFA"/>
            </a:gs>
          </a:gsLst>
          <a:lin scaled="0" ang="18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457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0" b="1" i="0">
                <a:solidFill>
                  <a:srgbClr val="CCFBF1"/>
                </a:solidFill>
                <a:latin typeface="Segoe UI Light"/>
              </a:rP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6304" cy="56692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0D9488"/>
                </a:solidFill>
                <a:latin typeface="Segoe UI"/>
              </a:rPr>
              <a:t>WHAT WE TOOK AWAY</a:t>
            </a:r>
          </a:p>
          <a:p>
            <a:r>
              <a:rPr sz="3100" b="1" i="0">
                <a:solidFill>
                  <a:srgbClr val="0F172A"/>
                </a:solidFill>
                <a:latin typeface="Segoe UI"/>
              </a:rPr>
              <a:t>Challenges &amp;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524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 i="0">
                <a:solidFill>
                  <a:srgbClr val="5B6670"/>
                </a:solidFill>
                <a:latin typeface="Segoe UI"/>
              </a:rPr>
              <a:t>MedBuddy  ·  Team04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0D9488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57800" cy="640080"/>
          </a:xfrm>
          <a:prstGeom prst="roundRect">
            <a:avLst>
              <a:gd name="adj" fmla="val 7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5257800" cy="27432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Segoe UI"/>
              </a:rPr>
              <a:t>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9748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100" b="1" i="0">
                <a:solidFill>
                  <a:srgbClr val="FB7185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Auth-only Supabase + backend service role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B7185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Giving the AI real patient context securely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B7185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Running GPU AI services (STT / TTS) locally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B7185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Emulator vs real-device networking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FB7185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Duplicate-data bugs → indexes + 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57800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203200" dist="63500" dir="5400000" rotWithShape="0">
              <a:srgbClr val="063A35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257800" cy="640080"/>
          </a:xfrm>
          <a:prstGeom prst="roundRect">
            <a:avLst>
              <a:gd name="adj" fmla="val 7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94560"/>
            <a:ext cx="5257800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Segoe UI"/>
              </a:rPr>
              <a:t>What We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9748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End-to-end mobile + backend + AI integration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Secure auth &amp; role-based access design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Reactive state management at scale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Real-time features (push + video)</a:t>
            </a:r>
          </a:p>
          <a:p>
            <a:pPr>
              <a:spcAft>
                <a:spcPts val="900"/>
              </a:spcAft>
            </a:pPr>
            <a:r>
              <a:rPr sz="110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0F172A"/>
                </a:solidFill>
                <a:latin typeface="Segoe UI"/>
              </a:rPr>
              <a:t>Shipping a polished, accessible product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322E"/>
            </a:gs>
            <a:gs pos="100000">
              <a:srgbClr val="0A5C5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011680"/>
            <a:ext cx="6858000" cy="6858000"/>
          </a:xfrm>
          <a:prstGeom prst="ellipse">
            <a:avLst/>
          </a:prstGeom>
          <a:solidFill>
            <a:srgbClr val="0D9488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5EEAD4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463040"/>
            <a:ext cx="3108960" cy="310896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22402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6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r>
              <a:rPr sz="2400" b="0" i="0">
                <a:solidFill>
                  <a:srgbClr val="CCFBF1"/>
                </a:solidFill>
                <a:latin typeface="Segoe UI Light"/>
              </a:rPr>
              <a:t>We're happy to answer your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617720"/>
            <a:ext cx="2011680" cy="50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59E0B"/>
                </a:solidFill>
                <a:latin typeface="Segoe UI"/>
              </a:rPr>
              <a:t>MedBuddy  ·  Team04</a:t>
            </a:r>
          </a:p>
          <a:p>
            <a:r>
              <a:rPr sz="1300" b="0" i="0">
                <a:solidFill>
                  <a:srgbClr val="FFFFFF"/>
                </a:solidFill>
                <a:latin typeface="Segoe UI"/>
              </a:rPr>
              <a:t>Ahmed Samer  ·  Ali Abdallah  ·  Ismail Hesham  ·  Abu Bakr Hegazy  ·  Mena Khaled</a:t>
            </a:r>
          </a:p>
          <a:p>
            <a:r>
              <a:rPr sz="1100" b="0" i="0">
                <a:solidFill>
                  <a:srgbClr val="CCFBF1"/>
                </a:solidFill>
                <a:latin typeface="Segoe UI"/>
              </a:rPr>
              <a:t>Mobile Programming · Final Discussion ·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